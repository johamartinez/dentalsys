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5303520"/>
            <a:ext cx="1005840" cy="1005840"/>
          </a:xfrm>
          <a:prstGeom prst="ellipse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074920"/>
            <a:ext cx="1097280" cy="1097280"/>
          </a:xfrm>
          <a:prstGeom prst="ellipse">
            <a:avLst/>
          </a:prstGeom>
          <a:solidFill>
            <a:srgbClr val="E0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594360"/>
            <a:ext cx="320040" cy="320040"/>
          </a:xfrm>
          <a:prstGeom prst="ellipse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rdrop 6"/>
          <p:cNvSpPr/>
          <p:nvPr/>
        </p:nvSpPr>
        <p:spPr>
          <a:xfrm>
            <a:off x="914400" y="1325880"/>
            <a:ext cx="914400" cy="1143000"/>
          </a:xfrm>
          <a:prstGeom prst="teardrop">
            <a:avLst/>
          </a:prstGeom>
          <a:noFill/>
          <a:ln w="31750"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41732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2A3441"/>
                </a:solidFill>
              </a:rPr>
              <a:t>Dental</a:t>
            </a:r>
            <a:r>
              <a:rPr sz="4200" b="1">
                <a:solidFill>
                  <a:srgbClr val="489AE0"/>
                </a:solidFill>
              </a:rPr>
              <a:t>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1" y="221284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43058"/>
                </a:solidFill>
              </a:rPr>
              <a:t>Sistema web de gestión odontológica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1" y="3063240"/>
            <a:ext cx="2971800" cy="438912"/>
          </a:xfrm>
          <a:prstGeom prst="roundRect">
            <a:avLst/>
          </a:prstGeom>
          <a:solidFill>
            <a:srgbClr val="FF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A3441"/>
                </a:solidFill>
              </a:rPr>
              <a:t>FASE 1 · PRESENTACIÓN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3794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058"/>
                </a:solidFill>
              </a:rPr>
              <a:t>Clínica Más Dent · Puente Alto</a:t>
            </a:r>
          </a:p>
          <a:p>
            <a:r>
              <a:rPr sz="1500">
                <a:solidFill>
                  <a:srgbClr val="667484"/>
                </a:solidFill>
              </a:rPr>
              <a:t>Proyecto APT / CAPSTONE 2026 · Duoc 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48006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3441"/>
                </a:solidFill>
              </a:rPr>
              <a:t>Johanna Martínez Sanhueza  ·  Cristian Muñoz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1. Equipo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Equipo actual y responsabilidades principales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41148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4864" cy="411480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270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Johanna Martínez Sanhueza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484632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Desarrollo Full Stack
Análisis y diseño
Gestión del proyecto
Documentación y seguimiento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120640" cy="4114800"/>
          </a:xfrm>
          <a:prstGeom prst="roundRect">
            <a:avLst/>
          </a:prstGeom>
          <a:solidFill>
            <a:srgbClr val="FFF9DC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54864" cy="4114800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270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Cristian Muñoz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892808"/>
            <a:ext cx="484632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Desarrollo Full Stack
Apoyo en diseño técnico
Implementación de componentes
Integración y pruebas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143058"/>
                </a:solidFill>
              </a:rPr>
              <a:t>Trabajo coordinado mediante Scrum, Jira y GitHub.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2. Presentación del 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Problemática y propuesta de solución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349240" cy="4389120"/>
          </a:xfrm>
          <a:prstGeom prst="roundRect">
            <a:avLst/>
          </a:prstGeom>
          <a:solidFill>
            <a:srgbClr val="FFF9DC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54864" cy="4389120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3560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PROBLEMÁTICA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01368"/>
            <a:ext cx="50749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Más Dent gestiona parte de sus procesos mediante cuadernos, fichas físicas y registros manuales. Al operar con dos sucursales, esto dificulta el acceso oportuno, la actualización y la trazabilidad de la información.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Agenda y cancelaciones registradas manualmente.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Fichas clínicas físicas y traslado entre sucursales.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Mayor carga administrativa y riesgo de errores.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Dificultad para dar seguimiento a tratamientos y presupuestos.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03520" cy="438912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" cy="438912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3560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PROPUESTA DE SOLUCIÓN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01368"/>
            <a:ext cx="502920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DentalSys centraliza los principales procesos clínicos y administrativos mediante una plataforma web, con acceso controlado según el 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71800"/>
            <a:ext cx="4709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Gestión de pacientes y agenda.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Ficha clínica y registro de atenciones.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Presupuestos y tratamientos.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Portal del Paciente.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Asistente IA limitado a apoyo administrativo.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3. 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Qué buscamos lograr con DentalSys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303520" cy="429768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4864" cy="429768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270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50292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Desarrollar un sistema web que permita gestionar integralmente los procesos clínicos y administrativos de una clínica dental, optimizando la atención al paciente y la gestión interna.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4297680"/>
          </a:xfrm>
          <a:prstGeom prst="roundRect">
            <a:avLst/>
          </a:prstGeom>
          <a:solidFill>
            <a:srgbClr val="FFF9DC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4864" cy="4297680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52704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OBJETIVOS ESPECÍFICOS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Centralizar la información de pacientes.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Gestionar disponibilidad y reserva de horas.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Registrar y consultar ficha clínica y atenciones.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Gestionar presupuestos y tratamientos.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Entregar autonomía al paciente mediante su portal.</a:t>
            </a:r>
          </a:p>
          <a:p>
            <a:pPr>
              <a:spcAft>
                <a:spcPts val="600"/>
              </a:spcAft>
              <a:defRPr sz="1400">
                <a:solidFill>
                  <a:srgbClr val="2A3441"/>
                </a:solidFill>
                <a:latin typeface="Aptos"/>
              </a:defRPr>
            </a:pPr>
            <a:r>
              <a:t>Incorporar IA de apoyo administrativo de forma controlada.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4. Plan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Cronograma general de Fase 1, Fase 2 y Fase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4864" cy="425196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2704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FASE 1  ·  S1–S4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92808"/>
            <a:ext cx="324612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Sprint 0 · S1–S2
Sprint 1 · S3–S4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143058"/>
                </a:solidFill>
              </a:rPr>
              <a:t>Definición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54864" cy="4251960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52704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FASE 2  ·  S5–S15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1892808"/>
            <a:ext cx="324612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Sprint 2 · S5–S7
Sprint 3 · S8–S10
Sprint 4 · S11–S13
Sprint 5 · S14–S15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402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143058"/>
                </a:solidFill>
              </a:rPr>
              <a:t>Desarrollo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54864" cy="425196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52704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FASE 3  ·  S16–S18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92808"/>
            <a:ext cx="324612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Correcciones · Documentación
Presentación · Defensa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402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143058"/>
                </a:solidFill>
              </a:rPr>
              <a:t>Cierre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80644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92531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489AE0"/>
                </a:solidFill>
              </a:rPr>
              <a:t>S2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6327647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484"/>
                </a:solidFill>
              </a:rPr>
              <a:t>Pacientes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580644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592531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AD249"/>
                </a:solidFill>
              </a:rPr>
              <a:t>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6327647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484"/>
                </a:solidFill>
              </a:rPr>
              <a:t>Agenda + Ficha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80644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92531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489AE0"/>
                </a:solidFill>
              </a:rPr>
              <a:t>S4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6327647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484"/>
                </a:solidFill>
              </a:rPr>
              <a:t>Presupuestos + Portal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580644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592531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FAD249"/>
                </a:solidFill>
              </a:rPr>
              <a:t>S5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6327647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484"/>
                </a:solidFill>
              </a:rPr>
              <a:t>IA + Seguridad + Pruebas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5. Metodología a utilizar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Scrum para desarrollo iterativo e incremental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828800"/>
            <a:ext cx="1417320" cy="548640"/>
          </a:xfrm>
          <a:prstGeom prst="roundRect">
            <a:avLst/>
          </a:prstGeom>
          <a:solidFill>
            <a:srgbClr val="F4FAFE"/>
          </a:solidFill>
          <a:ln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3058"/>
                </a:solidFill>
              </a:rPr>
              <a:t>Planificación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383280"/>
            <a:ext cx="1417320" cy="548640"/>
          </a:xfrm>
          <a:prstGeom prst="roundRect">
            <a:avLst/>
          </a:prstGeom>
          <a:solidFill>
            <a:srgbClr val="FFF9DC"/>
          </a:solidFill>
          <a:ln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3058"/>
                </a:solidFill>
              </a:rPr>
              <a:t>Desarrollo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572000"/>
            <a:ext cx="1417320" cy="548640"/>
          </a:xfrm>
          <a:prstGeom prst="roundRect">
            <a:avLst/>
          </a:prstGeom>
          <a:solidFill>
            <a:srgbClr val="F4FAFE"/>
          </a:solidFill>
          <a:ln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3058"/>
                </a:solidFill>
              </a:rPr>
              <a:t>Revisión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383280"/>
            <a:ext cx="1417320" cy="548640"/>
          </a:xfrm>
          <a:prstGeom prst="roundRect">
            <a:avLst/>
          </a:prstGeom>
          <a:solidFill>
            <a:srgbClr val="FFF9DC"/>
          </a:solidFill>
          <a:ln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3058"/>
                </a:solidFill>
              </a:rPr>
              <a:t>Retrospectiva</a:t>
            </a:r>
          </a:p>
        </p:txBody>
      </p:sp>
      <p:sp>
        <p:nvSpPr>
          <p:cNvPr id="11" name="Oval 10"/>
          <p:cNvSpPr/>
          <p:nvPr/>
        </p:nvSpPr>
        <p:spPr>
          <a:xfrm>
            <a:off x="2514600" y="2743200"/>
            <a:ext cx="164592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43058"/>
                </a:solidFill>
              </a:rPr>
              <a:t>SCRUM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Sprints con entregas incrementales.</a:t>
            </a:r>
          </a:p>
          <a:p>
            <a:pPr>
              <a:spcAft>
                <a:spcPts val="6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Priorización mediante Product Backlog.</a:t>
            </a:r>
          </a:p>
          <a:p>
            <a:pPr>
              <a:spcAft>
                <a:spcPts val="6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Seguimiento del avance en Jira.</a:t>
            </a:r>
          </a:p>
          <a:p>
            <a:pPr>
              <a:spcAft>
                <a:spcPts val="6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Integración y pruebas durante el desarrollo.</a:t>
            </a:r>
          </a:p>
          <a:p>
            <a:pPr>
              <a:spcAft>
                <a:spcPts val="6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Definition of Done para cerrar historias.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6. Tecnologías a utilizar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Stack tecnológico definido para el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0561320" cy="512064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54864" cy="512064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35608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01368"/>
            <a:ext cx="1028700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React + Vite · Material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92808"/>
            <a:ext cx="105613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892808"/>
            <a:ext cx="54864" cy="512064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02536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368296"/>
            <a:ext cx="1028700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Java 21 · Spring Boot · Spring Data JPA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459736"/>
            <a:ext cx="10561320" cy="512064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459736"/>
            <a:ext cx="54864" cy="512064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569464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935224"/>
            <a:ext cx="1028700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Spring Security · JWT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026664"/>
            <a:ext cx="105613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026664"/>
            <a:ext cx="54864" cy="512064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136392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Base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502152"/>
            <a:ext cx="1028700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MySQL · MySQL Workbench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593592"/>
            <a:ext cx="10561320" cy="512064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593592"/>
            <a:ext cx="54864" cy="512064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703320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Contenedores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069080"/>
            <a:ext cx="1028700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Docker · Docker Compose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160520"/>
            <a:ext cx="105613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160520"/>
            <a:ext cx="54864" cy="512064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270248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636008"/>
            <a:ext cx="1028700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REST · Swagger/OpenAPI · Postman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727448"/>
            <a:ext cx="10561320" cy="512064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727448"/>
            <a:ext cx="54864" cy="512064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837176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202936"/>
            <a:ext cx="1028700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Google AI Studio / Gemini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294376"/>
            <a:ext cx="105613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5294376"/>
            <a:ext cx="54864" cy="512064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404104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Gestión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769864"/>
            <a:ext cx="1028700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Git · GitHub · Jira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7. Modelo Relacional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Primer bosquejo: 12 tablas y relaciones principales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73736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17320"/>
            <a:ext cx="173736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ODONTOLOGO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417320"/>
            <a:ext cx="173736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PACIENTE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182880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FICHA_CLINICA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606040"/>
            <a:ext cx="173736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CITA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3703320"/>
            <a:ext cx="173736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ATENCION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92040"/>
            <a:ext cx="173736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TRATAMIENTO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892040"/>
            <a:ext cx="210312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ATENCION_TRATAMIENTO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703320"/>
            <a:ext cx="182880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PRESUPUESTO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892040"/>
            <a:ext cx="210312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PRESUPUESTO_TRATAMIENTO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3703320"/>
            <a:ext cx="150876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PAGO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4892040"/>
            <a:ext cx="1828800" cy="6583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89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43058"/>
                </a:solidFill>
              </a:rPr>
              <a:t>DOCUMENTO_CLINICO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63040.0" y="2075688"/>
            <a:ext cx="2194560.0" cy="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63040.0" y="2075688"/>
            <a:ext cx="4389120.0" cy="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0.0" y="2075688"/>
            <a:ext cx="2377440.0" cy="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52160.0" y="2075688"/>
            <a:ext cx="0.0" cy="118872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.0" y="2075688"/>
            <a:ext cx="2194560.0" cy="118872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52160.0" y="3264408"/>
            <a:ext cx="0.0" cy="109728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297680.0" y="4361688"/>
            <a:ext cx="1554480.0" cy="118872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783080.0" y="5550408"/>
            <a:ext cx="2514600.0" cy="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52160.0" y="2075688"/>
            <a:ext cx="2377440.0" cy="228600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.0" y="4361688"/>
            <a:ext cx="137160.0" cy="118872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783080.0" y="5550408"/>
            <a:ext cx="6583680.0" cy="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52160.0" y="2075688"/>
            <a:ext cx="4640580.0" cy="228600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52160.0" y="4361688"/>
            <a:ext cx="4640580.0" cy="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52160.0" y="2075688"/>
            <a:ext cx="4617720.0" cy="347472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52160.0" y="4361688"/>
            <a:ext cx="4617720.0" cy="1188720"/>
          </a:xfrm>
          <a:prstGeom prst="line">
            <a:avLst/>
          </a:prstGeom>
          <a:ln w="1524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8978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667484"/>
                </a:solidFill>
              </a:rPr>
              <a:t>Modelo de referencia: PK, FK, tablas puente y cardinalidades se mantienen alineados con el diseño técnico.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8. Diagrama de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Arquitectura monolítica modular para el MVP</a:t>
            </a:r>
          </a:p>
        </p:txBody>
      </p:sp>
      <p:pic>
        <p:nvPicPr>
          <p:cNvPr id="7" name="Picture 6" descr="13.-Diagrama de Despliegue - DentalS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325482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5212080" cy="105156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4864" cy="105156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92808"/>
            <a:ext cx="49377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Navegador web · acceso HTTPS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" cy="1051560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072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APLICACIÓN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172968"/>
            <a:ext cx="49377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Frontend React + Vite y Backend Spring Boot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212080" cy="105156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77639"/>
            <a:ext cx="54864" cy="105156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87367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53127"/>
            <a:ext cx="49377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MySQL · persistencia mediante Spring Data JPA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57800"/>
            <a:ext cx="5212080" cy="713232"/>
          </a:xfrm>
          <a:prstGeom prst="roundRect">
            <a:avLst/>
          </a:prstGeom>
          <a:solidFill>
            <a:srgbClr val="FFF9DC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257800"/>
            <a:ext cx="54864" cy="713232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367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SERVICIO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733288"/>
            <a:ext cx="4937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Gemini mediante API controlada; sin acceso directo a 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9. Mockups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Dos pantallas propuestas para el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234440"/>
            <a:ext cx="31546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234440"/>
            <a:ext cx="3154680" cy="438912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Panel de gestión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892808"/>
            <a:ext cx="594360" cy="310896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80160" y="2395728"/>
            <a:ext cx="594360" cy="310896"/>
          </a:xfrm>
          <a:prstGeom prst="roundRect">
            <a:avLst/>
          </a:prstGeom>
          <a:solidFill>
            <a:srgbClr val="FF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2898648"/>
            <a:ext cx="594360" cy="310896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3401568"/>
            <a:ext cx="594360" cy="310896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57400" y="1947672"/>
            <a:ext cx="841248" cy="749808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89AE0"/>
                </a:solidFill>
              </a:rPr>
              <a:t>128</a:t>
            </a:r>
          </a:p>
          <a:p>
            <a:pPr algn="ctr"/>
            <a:r>
              <a:rPr sz="750">
                <a:solidFill>
                  <a:srgbClr val="667484"/>
                </a:solidFill>
              </a:rPr>
              <a:t>Pacientes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947672"/>
            <a:ext cx="841248" cy="749808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89AE0"/>
                </a:solidFill>
              </a:rPr>
              <a:t>12</a:t>
            </a:r>
          </a:p>
          <a:p>
            <a:pPr algn="ctr"/>
            <a:r>
              <a:rPr sz="750">
                <a:solidFill>
                  <a:srgbClr val="667484"/>
                </a:solidFill>
              </a:rPr>
              <a:t>Citas hoy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2999232"/>
            <a:ext cx="841248" cy="749808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89AE0"/>
                </a:solidFill>
              </a:rPr>
              <a:t>5</a:t>
            </a:r>
          </a:p>
          <a:p>
            <a:pPr algn="ctr"/>
            <a:r>
              <a:rPr sz="750">
                <a:solidFill>
                  <a:srgbClr val="667484"/>
                </a:solidFill>
              </a:rPr>
              <a:t>Pendientes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4480560"/>
            <a:ext cx="2057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0" y="4864608"/>
            <a:ext cx="2057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248656"/>
            <a:ext cx="2057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5632704"/>
            <a:ext cx="2057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09160" y="1234440"/>
            <a:ext cx="31546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1234440"/>
            <a:ext cx="3154680" cy="438912"/>
          </a:xfrm>
          <a:prstGeom prst="rect">
            <a:avLst/>
          </a:prstGeom>
          <a:solidFill>
            <a:srgbClr val="14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Portal del Paciente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1892808"/>
            <a:ext cx="594360" cy="310896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46320" y="2395728"/>
            <a:ext cx="594360" cy="310896"/>
          </a:xfrm>
          <a:prstGeom prst="roundRect">
            <a:avLst/>
          </a:prstGeom>
          <a:solidFill>
            <a:srgbClr val="FFF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6320" y="2898648"/>
            <a:ext cx="594360" cy="310896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46320" y="3401568"/>
            <a:ext cx="594360" cy="310896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23560" y="1947672"/>
            <a:ext cx="841248" cy="749808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AD249"/>
                </a:solidFill>
              </a:rPr>
              <a:t>128</a:t>
            </a:r>
          </a:p>
          <a:p>
            <a:pPr algn="ctr"/>
            <a:r>
              <a:rPr sz="750">
                <a:solidFill>
                  <a:srgbClr val="667484"/>
                </a:solidFill>
              </a:rPr>
              <a:t>Pacientes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947672"/>
            <a:ext cx="841248" cy="749808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AD249"/>
                </a:solidFill>
              </a:rPr>
              <a:t>12</a:t>
            </a:r>
          </a:p>
          <a:p>
            <a:pPr algn="ctr"/>
            <a:r>
              <a:rPr sz="750">
                <a:solidFill>
                  <a:srgbClr val="667484"/>
                </a:solidFill>
              </a:rPr>
              <a:t>Citas hoy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2999232"/>
            <a:ext cx="841248" cy="749808"/>
          </a:xfrm>
          <a:prstGeom prst="roundRect">
            <a:avLst/>
          </a:prstGeom>
          <a:solidFill>
            <a:srgbClr val="F4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AD249"/>
                </a:solidFill>
              </a:rPr>
              <a:t>5</a:t>
            </a:r>
          </a:p>
          <a:p>
            <a:pPr algn="ctr"/>
            <a:r>
              <a:rPr sz="750">
                <a:solidFill>
                  <a:srgbClr val="667484"/>
                </a:solidFill>
              </a:rPr>
              <a:t>Pendientes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4480560"/>
            <a:ext cx="2057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4864608"/>
            <a:ext cx="2057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5248656"/>
            <a:ext cx="2057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77840" y="5632704"/>
            <a:ext cx="2057400" cy="246888"/>
          </a:xfrm>
          <a:prstGeom prst="rect">
            <a:avLst/>
          </a:prstGeom>
          <a:solidFill>
            <a:srgbClr val="FFFFFF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0" y="1417320"/>
            <a:ext cx="2926080" cy="196596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1417320"/>
            <a:ext cx="54864" cy="196596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152704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PANTALLA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1892808"/>
            <a:ext cx="265176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Panel para gestión de pacientes, agenda y procesos internos.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3657600"/>
            <a:ext cx="2926080" cy="1965960"/>
          </a:xfrm>
          <a:prstGeom prst="roundRect">
            <a:avLst/>
          </a:prstGeom>
          <a:solidFill>
            <a:srgbClr val="FFF9DC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3657600"/>
            <a:ext cx="54864" cy="1965960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7072" y="376732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PANTALLA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7072" y="4133088"/>
            <a:ext cx="265176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Portal para reservar/cancelar horas y consultar información propia.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10. 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Pasar del diseño a una implementación incremental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325880"/>
            <a:ext cx="530352" cy="530352"/>
          </a:xfrm>
          <a:prstGeom prst="ellipse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280160"/>
            <a:ext cx="9692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0200" y="1280160"/>
            <a:ext cx="54864" cy="658368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389888"/>
            <a:ext cx="9418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Cerrar Fase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755648"/>
            <a:ext cx="9418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Consolidar requerimientos, modelo de datos, UML, arquitectura y plan de pruebas.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258568"/>
            <a:ext cx="530352" cy="530352"/>
          </a:xfrm>
          <a:prstGeom prst="ellipse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3058"/>
                </a:solidFill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2212848"/>
            <a:ext cx="9692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0200" y="2212848"/>
            <a:ext cx="54864" cy="658368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64792" y="2322576"/>
            <a:ext cx="9418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Sprint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88336"/>
            <a:ext cx="9418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Configurar base técnica y desarrollar gestión de pacientes.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191256"/>
            <a:ext cx="530352" cy="530352"/>
          </a:xfrm>
          <a:prstGeom prst="ellipse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3145536"/>
            <a:ext cx="9692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00200" y="3145536"/>
            <a:ext cx="54864" cy="658368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64792" y="3255264"/>
            <a:ext cx="9418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Sprint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621024"/>
            <a:ext cx="9418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Implementar agenda, ficha clínica y atención.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123944"/>
            <a:ext cx="530352" cy="530352"/>
          </a:xfrm>
          <a:prstGeom prst="ellipse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3058"/>
                </a:solidFill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00200" y="4078224"/>
            <a:ext cx="9692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00200" y="4078224"/>
            <a:ext cx="54864" cy="658368"/>
          </a:xfrm>
          <a:prstGeom prst="rect">
            <a:avLst/>
          </a:prstGeom>
          <a:solidFill>
            <a:srgbClr val="FAD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4792" y="4187952"/>
            <a:ext cx="9418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Sprint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553712"/>
            <a:ext cx="9418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Implementar presupuestos y Portal del Paciente.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5056632"/>
            <a:ext cx="530352" cy="530352"/>
          </a:xfrm>
          <a:prstGeom prst="ellipse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00200" y="5010912"/>
            <a:ext cx="9692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00200" y="5010912"/>
            <a:ext cx="54864" cy="658368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64792" y="5120640"/>
            <a:ext cx="9418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Sprint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486400"/>
            <a:ext cx="9418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A3441"/>
                </a:solidFill>
                <a:latin typeface="Aptos"/>
              </a:rPr>
              <a:t>Integrar IA, seguridad, pruebas y preparar el MVP.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0881360" y="-320040"/>
            <a:ext cx="1645920" cy="1645920"/>
          </a:xfrm>
          <a:prstGeom prst="arc">
            <a:avLst/>
          </a:prstGeom>
          <a:noFill/>
          <a:ln w="101600">
            <a:solidFill>
              <a:srgbClr val="E0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411480" cy="411480"/>
          </a:xfrm>
          <a:prstGeom prst="round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1479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058"/>
                </a:solidFill>
                <a:latin typeface="Aptos Display"/>
              </a:rPr>
              <a:t>11.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14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89AE0"/>
                </a:solidFill>
                <a:latin typeface="Aptos"/>
              </a:rPr>
              <a:t>Cierre de la presentación de Fase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6400800" cy="429768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54864" cy="4297680"/>
          </a:xfrm>
          <a:prstGeom prst="rect">
            <a:avLst/>
          </a:prstGeom>
          <a:solidFill>
            <a:srgbClr val="48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27048"/>
            <a:ext cx="6126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058"/>
                </a:solidFill>
                <a:latin typeface="Aptos"/>
              </a:rPr>
              <a:t>¿QUÉ DEJAMOS DEFINIDO?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5806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Un problema real y concreto de gestión para la clínica Más Dent.</a:t>
            </a:r>
          </a:p>
          <a:p>
            <a:pPr>
              <a:spcAft>
                <a:spcPts val="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Un MVP acotado para las 18 semanas de CAPSTONE.</a:t>
            </a:r>
          </a:p>
          <a:p>
            <a:pPr>
              <a:spcAft>
                <a:spcPts val="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Una arquitectura monolítica modular, evitando complejidad innecesaria.</a:t>
            </a:r>
          </a:p>
          <a:p>
            <a:pPr>
              <a:spcAft>
                <a:spcPts val="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Un modelo de datos y una planificación técnica para comenzar el desarrollo.</a:t>
            </a:r>
          </a:p>
          <a:p>
            <a:pPr>
              <a:spcAft>
                <a:spcPts val="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Un enfoque de pruebas que considera unitarias, caja negra, integración, rendimiento y seguridad.</a:t>
            </a:r>
          </a:p>
          <a:p>
            <a:pPr>
              <a:spcAft>
                <a:spcPts val="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Un asistente IA con alcance restringido a apoyo administrativo.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41732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AD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057400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489AE0"/>
                </a:solidFill>
              </a:rPr>
              <a:t>DentalSys</a:t>
            </a:r>
          </a:p>
          <a:p>
            <a:pPr algn="ctr"/>
            <a:r>
              <a:rPr sz="1600">
                <a:solidFill>
                  <a:srgbClr val="143058"/>
                </a:solidFill>
              </a:rPr>
              <a:t>Digitalizar · Centralizar · Facilitar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069080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43058"/>
                </a:solidFill>
              </a:rPr>
              <a:t>Gracias</a:t>
            </a:r>
          </a:p>
          <a:p>
            <a:pPr algn="ctr"/>
            <a:r>
              <a:rPr sz="1500">
                <a:solidFill>
                  <a:srgbClr val="667484"/>
                </a:solidFill>
              </a:rPr>
              <a:t>¿Preguntas?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484"/>
                </a:solidFill>
                <a:latin typeface="Aptos"/>
              </a:rPr>
              <a:t>DentalSys · CAPSTONE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